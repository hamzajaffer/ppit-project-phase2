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4338CA">
              <a:alpha val="4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3657600"/>
            <a:ext cx="1828800" cy="1828800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|  PHASE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Image-to-Word Converter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into an Agentic AI System with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Ethical, Legal, and Professional Integration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9144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I22-0583  •  I22-0554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Practices in 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•  PHASE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RECAP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•  WHERE WE STARTED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Static OCR-to-Word Pipeline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4023360" cy="100584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OCR tools extract text but discard formatting — headings, bold, alignment, lists — leaving outputs nearly unusable.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2708910"/>
            <a:ext cx="205740" cy="2057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digitizing notes  •  Professionals converting scanned documents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520440"/>
            <a:ext cx="40233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Built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38587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text extraction (Tesseract engine)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detection — headings, bold, alignment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Word (.docx) document generation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29200" y="14173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29200" y="1417320"/>
            <a:ext cx="3657600" cy="3200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38928" y="150876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21808" y="150876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04688" y="150876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Image-to-Word  •  Phase 1 Demo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212080" y="1874520"/>
            <a:ext cx="3291840" cy="914400"/>
          </a:xfrm>
          <a:prstGeom prst="rect">
            <a:avLst/>
          </a:prstGeom>
          <a:solidFill>
            <a:srgbClr val="E0E7FF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6629400" y="20116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2125980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21208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image to convert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21208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 →  Format Detection  →  .docx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212080" y="3246120"/>
            <a:ext cx="32918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34924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349240" y="3657600"/>
            <a:ext cx="274320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349240" y="3822192"/>
            <a:ext cx="219456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349240" y="3986784"/>
            <a:ext cx="292608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349240" y="4151376"/>
            <a:ext cx="164592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212080" y="4343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structured.docx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PROFESSIONALISM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as a Professional Discipline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is not just coding — it is a profession with codified obligations to the people and systems it touches.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2514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23060" y="2194560"/>
            <a:ext cx="548640" cy="5486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233172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Users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software that is reliable, accurate, and safe for its intended audience.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37560" y="2011680"/>
            <a:ext cx="2514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20540" y="219456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3317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Society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4747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technology that respects accessibility, fairness, and the wider public interest.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35040" y="2011680"/>
            <a:ext cx="2514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18020" y="2194560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233172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7220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Data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17220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personal and organizational data through minimization, security, and consent.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" y="4572000"/>
            <a:ext cx="8046720" cy="22860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in this project carries a professional duty.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vs. Morals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8404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68021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6304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beliefs about right and wrong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233172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Internal, subjective convictions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across individuals and cultures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in upbringing, religion, experience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1371600"/>
            <a:ext cx="38404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9200" y="155448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930" y="168021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692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66928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Codified professional standards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029200" y="233172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agreed-upon principles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professional conduct (ACM/IEEE)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Enforceable across an industry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0080" y="3840480"/>
            <a:ext cx="804672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39136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THIS PROJECT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2296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prioritize speed (personal convenience) — or correctness (professional responsibility)?  We chose accuracy.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ETHICS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IN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Ethics in Development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guided every implementation decision in our system.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18745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1874520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8448" y="2103120"/>
            <a:ext cx="548640" cy="5486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2402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31546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modular code; reviewed and version-controlled.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651760" y="1828800"/>
            <a:ext cx="18745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651760" y="1828800"/>
            <a:ext cx="18745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10128" y="210312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24028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43200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743200" y="31546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behaviour across diverse document inputs.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663440" y="1828800"/>
            <a:ext cx="18745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63440" y="1828800"/>
            <a:ext cx="187452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321808" y="2103120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224028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54880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Safety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754880" y="31546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actions; clear feedback when results are uncertain.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675120" y="1828800"/>
            <a:ext cx="18745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675120" y="1828800"/>
            <a:ext cx="1874520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333488" y="2103120"/>
            <a:ext cx="548640" cy="5486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224028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66560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766560" y="31546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processing — uploaded images are never retained.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 FROM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Decision: Speed vs. Accuracy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8046720" cy="64008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417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Phase 1, we faced a fundamental trade-off in the OCR pipeline: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664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system be FAST or should it be ACCURATE?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240280"/>
            <a:ext cx="3840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240280"/>
            <a:ext cx="3840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 •  Faster OCR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74320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latency, smoother UX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model, less compute cost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frequent formatting errors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misleading the user with confident but wrong output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240280"/>
            <a:ext cx="3840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240280"/>
            <a:ext cx="38404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 •  Accurate OCR  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74320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fidelity output documents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processing, but trustworthy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professional duty to user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— correctness outweighs convenience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Ethical Decision-Making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937760" y="1463040"/>
            <a:ext cx="3108960" cy="3108960"/>
          </a:xfrm>
          <a:prstGeom prst="ellipse">
            <a:avLst/>
          </a:prstGeom>
          <a:solidFill>
            <a:srgbClr val="E0E7FF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1828800"/>
            <a:ext cx="2377440" cy="2377440"/>
          </a:xfrm>
          <a:prstGeom prst="ellipse">
            <a:avLst/>
          </a:prstGeom>
          <a:solidFill>
            <a:srgbClr val="C7D2FE">
              <a:alpha val="70000"/>
            </a:srgbClr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2286000"/>
            <a:ext cx="1463040" cy="14630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2860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7512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EFFECTS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69164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1691640"/>
            <a:ext cx="54864" cy="8686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2057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output silently breaks workflows and decisions.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269748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2697480"/>
            <a:ext cx="54864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user trust is lost, retention is rarely recovered.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70332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703320"/>
            <a:ext cx="54864" cy="868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shortcuts compound into long-term technical debt.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THEORY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Utilitarianism + Human-Centered Design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4023360" cy="3200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UTILITARIANISM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right action produces the greatest good for the greatest number."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2514600"/>
            <a:ext cx="64008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APPLIED 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9260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OCR — accessible to all students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tooling — no paywall on accurate output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Maximized total benefit across user base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HUMAN-CENTERED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69164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0620" y="1805940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40680" y="1691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User-First Design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40680" y="19842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built around real user tasks, not engineering convenience.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0" y="26517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276606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40680" y="2651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Misleading Output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40680" y="29443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cues warn when OCR results may be unreliable.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846320" y="36118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372618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440680" y="3611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Risk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440680" y="3904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not over-trust an AI that can silently fail.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OF ETHICS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 /  IEEE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Followed — and One We Must Watch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WE UPHOLD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2514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645920"/>
            <a:ext cx="2514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9738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1810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validated against ground-truth corpora.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37560" y="1645920"/>
            <a:ext cx="2514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37560" y="1645920"/>
            <a:ext cx="2514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0440" y="17830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89738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114800" y="1810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52044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never leaves transient memory.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35040" y="1645920"/>
            <a:ext cx="2514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35040" y="1645920"/>
            <a:ext cx="2514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17920" y="17830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89738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12280" y="1810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21792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documentation of system limits.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40080" y="3383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RISK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40080" y="3703320"/>
            <a:ext cx="8046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40080" y="3703320"/>
            <a:ext cx="54864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68680" y="393192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04622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463040" y="37947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 Failures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463040" y="41148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but incorrect transcriptions can mislead users — risking the IEEE principle of avoiding harm. Mitigated via confidence scores and human review.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Ethical Decision-Making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8745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80160" y="1508760"/>
            <a:ext cx="594360" cy="5943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Issue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ethical question early and frame it precisely.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rot="5400000">
            <a:off x="2560320" y="2468880"/>
            <a:ext cx="73152" cy="146304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371600"/>
            <a:ext cx="18745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508760"/>
            <a:ext cx="594360" cy="5943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0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Stakeholders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0" y="26060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 — users, the team, society, future operators?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rot="5400000">
            <a:off x="4572000" y="2468880"/>
            <a:ext cx="73152" cy="146304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371600"/>
            <a:ext cx="18745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0" y="1508760"/>
            <a:ext cx="594360" cy="5943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Alternatives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26060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trade-offs; map each option's risks and benefits.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rot="5400000">
            <a:off x="6583680" y="2468880"/>
            <a:ext cx="73152" cy="146304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1371600"/>
            <a:ext cx="18745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0" y="1508760"/>
            <a:ext cx="594360" cy="5943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66560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Decision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766560" y="26060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with reasoning documented for accountability.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3840480"/>
            <a:ext cx="804672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9136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CONCERN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images may contain confidential data. Step 2 forced us to consider attackers and breach scenarios — leading to in-memory-only processing.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PRACTICES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 →  INDUSTRY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Project vs. Software House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4023360" cy="4114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team, limited timeline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Git workflow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ad-hoc testing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bias / fairness review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often retroactive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71600"/>
            <a:ext cx="3840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HOUSE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192024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teams + PM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policies, pull requests, CI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+ integration tests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AI bias and security review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documentation + standards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INDUSTRY IS HEADING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in IT  &amp;  Agentic Systems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the next inflection point — moving from passive tools to systems that perceive, decide, and act.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2514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23060" y="2011680"/>
            <a:ext cx="548640" cy="5486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21488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AI Agents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31089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(LangChain, AutoGPT-class systems) are reshaping software architecture.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37560" y="1828800"/>
            <a:ext cx="2514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20540" y="20116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1488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Shift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74720" y="31089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knowledge tasks are migrating from humans to intelligent pipelines.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35040" y="1828800"/>
            <a:ext cx="2514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18020" y="2011680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21488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7220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172200" y="31089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expected to learn, adapt, and reason — not just execute fixed scripts.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RELEVANCE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BUILT IN 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for the Agentic AI Era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sits at the intersection of three high-demand skill domains.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2514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09169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19933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Software Engineering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260604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ML model integration with production-grade engineering practices.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37560" y="1828800"/>
            <a:ext cx="2514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20440" y="196596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209169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14800" y="19933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520440" y="260604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modular, agentic pipelines with clear interfaces.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35040" y="1828800"/>
            <a:ext cx="2514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0" y="196596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2091690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12280" y="19933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Awareness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217920" y="260604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about user impact, bias, and accountability — not optional.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0080" y="4297680"/>
            <a:ext cx="8046720" cy="3657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together define the modern, employable AI engineer.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&amp; SUSTAINABILITY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WORK PRACTICES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Collaboration  &amp;  Green Computing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8404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Work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0876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delivery across the team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233172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collaboration via Git + chat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stand-ups and design reviews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commute, better focus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GitHub, VSCode Live Share, Discord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846320" y="1371600"/>
            <a:ext cx="38404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9200" y="155448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6916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1500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71500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Green-computing-aware design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029200" y="233172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inference, fewer cloud cycles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to avoid redundant computation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energy footprint per document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run on modest hardware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DUTIES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Aspects of Computing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developers we are not above the law — every system carries legal duties to its users.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4023360" cy="27432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5448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basis for processing user data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274320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what's needed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transiently — never store images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with applicable data laws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846320" y="1783080"/>
            <a:ext cx="3840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1783080"/>
            <a:ext cx="3840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0" y="196596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10312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150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Rights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7150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user is entitled to expect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029200" y="2743200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know how data is used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opt out / delete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a usable, non-misleading output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LICENSING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 Rights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2514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2514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68021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Ownership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2194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owns original source under university academic policy.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37560" y="1371600"/>
            <a:ext cx="2514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37560" y="1371600"/>
            <a:ext cx="2514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1680210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11480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Choices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520440" y="2194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for openness; Apache 2.0 for patent protection; GPL for copyleft.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35040" y="1371600"/>
            <a:ext cx="2514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5040" y="1371600"/>
            <a:ext cx="2514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17920" y="155448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680210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1228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Mindset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217920" y="2194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Privacy-by-design — even where GDPR doesn't legally apply, we follow its spirit.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40080" y="3931920"/>
            <a:ext cx="8046720" cy="68580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2296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STACK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82296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(Apache 2.0)  •  python-docx (MIT)  •  OpenCV (Apache 2.0)  —  all open-source dependencies properly attributed.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 &amp; RISKS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Crimes  &amp;  System Risks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68021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Theft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840480" y="1572768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0" y="15727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41732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harvesting uploaded images mid-pipeline.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1371600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371600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37760" y="1554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680210"/>
            <a:ext cx="251460" cy="2514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3212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Misuse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955280" y="1572768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955280" y="15727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53212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.docx files used for impersonation or fraud.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40080" y="3063240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0080" y="3063240"/>
            <a:ext cx="54864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371850"/>
            <a:ext cx="251460" cy="2514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3840480" y="3264408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840480" y="32644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417320" y="3611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endpoints exposing user sessions.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754880" y="3063240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54880" y="3063240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937760" y="32461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371850"/>
            <a:ext cx="251460" cy="2514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53212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Attacks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7955280" y="3264408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955280" y="32644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5532120" y="3611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payloads inside crafted image metadata.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THAT BIND 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Contracts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8046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72768"/>
            <a:ext cx="548640" cy="5486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0992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15361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of Service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54480" y="18745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acceptable use, jurisdiction, and limits of liability for the application.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468880"/>
            <a:ext cx="8046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46888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2670048"/>
            <a:ext cx="548640" cy="5486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0720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54480" y="26334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Agreement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554480" y="2971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terms users accept on first use — what we will and will not do with their data.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0080" y="3566160"/>
            <a:ext cx="8046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0080" y="356616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68680" y="3767328"/>
            <a:ext cx="548640" cy="5486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0448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54480" y="37307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Duties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554480" y="4069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Bug-fix windows, security patching, breach notification — our side of the contract.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 •  LIMITATIONS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Phase 1 Cannot Stay as It Is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static pipeline served its purpose — but its ceiling is now in clear view.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2514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25146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205740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19456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Pipeline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rules — no adaptation to new document types.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37560" y="1828800"/>
            <a:ext cx="2514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37560" y="1828800"/>
            <a:ext cx="25146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43400" y="205740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9456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7472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Intelligence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3474720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reason about ambiguous OCR output.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035040" y="1828800"/>
            <a:ext cx="2514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35040" y="1828800"/>
            <a:ext cx="25146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040880" y="205740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9456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7220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Autonomy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172200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requires explicit user instruction.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AGENTIC SYSTEM?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 That Define an Agent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737360"/>
            <a:ext cx="777240" cy="7772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931670"/>
            <a:ext cx="388620" cy="3886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74520" y="1645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74520" y="2103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input from the environment.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371600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83480" y="1737360"/>
            <a:ext cx="777240" cy="7772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790" y="1931670"/>
            <a:ext cx="388620" cy="3886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89320" y="1645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989320" y="2103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the best next action.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3063240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3429000"/>
            <a:ext cx="777240" cy="7772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3623310"/>
            <a:ext cx="388620" cy="3886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74520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874520" y="3794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on the environment to change it.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54880" y="3063240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983480" y="3429000"/>
            <a:ext cx="777240" cy="7772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790" y="3623310"/>
            <a:ext cx="388620" cy="3886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989320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989320" y="3794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from feedback over time.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CURRENT SYSTEM IS NOT AGENTIC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Missing Capabilities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8046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72768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0992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15361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Engine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54480" y="18745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if-else rules; cannot weigh trade-offs at runtime.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468880"/>
            <a:ext cx="8046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468880"/>
            <a:ext cx="54864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2670048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0720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54480" y="26334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554480" y="2971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starts blank; no recall of past corrections.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0080" y="3566160"/>
            <a:ext cx="8046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0080" y="3566160"/>
            <a:ext cx="54864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68680" y="3767328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0448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54480" y="37307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554480" y="4069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corrections vanish; the model never improves.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40080" y="4572000"/>
            <a:ext cx="8046720" cy="22860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008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maps to a specific module in the Phase 2 architecture.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TOOL TO AGENT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Agentic Vision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291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•  TOOL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2194560"/>
            <a:ext cx="914400" cy="9144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42316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3246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 •  Static  •  Rule-bound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3520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input. Always does the same thing.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 rot="5400000">
            <a:off x="4160520" y="2651760"/>
            <a:ext cx="822960" cy="365760"/>
          </a:xfrm>
          <a:prstGeom prst="rightTriangl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212080" y="1554480"/>
            <a:ext cx="3383280" cy="24688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212080" y="1554480"/>
            <a:ext cx="33832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208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•  AGENT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46520" y="219456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42316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492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 •  Adaptive  •  Learning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349240" y="3520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Anticipates intent. Improves with each use.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40080" y="4206240"/>
            <a:ext cx="8046720" cy="45720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008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turn a one-shot OCR utility into a self-improving document-understanding agent.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Diagram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1045029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19694" y="1554480"/>
            <a:ext cx="411480" cy="4114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564" y="1657350"/>
            <a:ext cx="205740" cy="2057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011680"/>
            <a:ext cx="10450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 rot="5400000">
            <a:off x="1552521" y="1819656"/>
            <a:ext cx="109728" cy="128016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85109" y="1417320"/>
            <a:ext cx="1045029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4338C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01883" y="1554480"/>
            <a:ext cx="411480" cy="4114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753" y="1657350"/>
            <a:ext cx="205740" cy="2057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85109" y="2011680"/>
            <a:ext cx="10450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 rot="5400000">
            <a:off x="2734709" y="1819656"/>
            <a:ext cx="109728" cy="128016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867297" y="1417320"/>
            <a:ext cx="1045029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4338C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184071" y="1554480"/>
            <a:ext cx="411480" cy="4114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941" y="1657350"/>
            <a:ext cx="205740" cy="2057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867297" y="2011680"/>
            <a:ext cx="10450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 rot="5400000">
            <a:off x="3916898" y="1819656"/>
            <a:ext cx="109728" cy="128016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049486" y="1417320"/>
            <a:ext cx="1045029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366260" y="15544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130" y="1657350"/>
            <a:ext cx="205740" cy="2057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049486" y="2011680"/>
            <a:ext cx="10450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 rot="5400000">
            <a:off x="5099086" y="1819656"/>
            <a:ext cx="109728" cy="128016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231674" y="1417320"/>
            <a:ext cx="1045029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548449" y="15544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319" y="1657350"/>
            <a:ext cx="205740" cy="2057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31674" y="2011680"/>
            <a:ext cx="10450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 rot="5400000">
            <a:off x="6281275" y="1819656"/>
            <a:ext cx="109728" cy="128016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413863" y="1417320"/>
            <a:ext cx="1045029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730637" y="155448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3507" y="1657350"/>
            <a:ext cx="205740" cy="2057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413863" y="2011680"/>
            <a:ext cx="10450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 rot="5400000">
            <a:off x="7463463" y="1819656"/>
            <a:ext cx="109728" cy="128016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7596051" y="1417320"/>
            <a:ext cx="1045029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7912826" y="155448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5696" y="1657350"/>
            <a:ext cx="205740" cy="20574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596051" y="2011680"/>
            <a:ext cx="10450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8321040" y="2606040"/>
            <a:ext cx="0" cy="640080"/>
          </a:xfrm>
          <a:prstGeom prst="line">
            <a:avLst/>
          </a:prstGeom>
          <a:noFill/>
          <a:ln w="19050">
            <a:solidFill>
              <a:srgbClr val="A78BFA"/>
            </a:solidFill>
            <a:prstDash val="dash"/>
          </a:ln>
        </p:spPr>
      </p:sp>
      <p:sp>
        <p:nvSpPr>
          <p:cNvPr id="43" name="Shape 34"/>
          <p:cNvSpPr/>
          <p:nvPr/>
        </p:nvSpPr>
        <p:spPr>
          <a:xfrm>
            <a:off x="1616529" y="3246120"/>
            <a:ext cx="6704511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dash"/>
          </a:ln>
        </p:spPr>
      </p:sp>
      <p:sp>
        <p:nvSpPr>
          <p:cNvPr id="44" name="Shape 35"/>
          <p:cNvSpPr/>
          <p:nvPr/>
        </p:nvSpPr>
        <p:spPr>
          <a:xfrm>
            <a:off x="1616529" y="2606040"/>
            <a:ext cx="0" cy="640080"/>
          </a:xfrm>
          <a:prstGeom prst="line">
            <a:avLst/>
          </a:prstGeom>
          <a:noFill/>
          <a:ln w="19050">
            <a:solidFill>
              <a:srgbClr val="A78BFA"/>
            </a:solidFill>
            <a:prstDash val="dash"/>
          </a:ln>
        </p:spPr>
      </p:sp>
      <p:sp>
        <p:nvSpPr>
          <p:cNvPr id="45" name="Shape 36"/>
          <p:cNvSpPr/>
          <p:nvPr/>
        </p:nvSpPr>
        <p:spPr>
          <a:xfrm>
            <a:off x="1561665" y="2542032"/>
            <a:ext cx="118872" cy="118872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22860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 →  Memory updates Perception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640080" y="3703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FROM PHASE 1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640080" y="4023360"/>
            <a:ext cx="2514600" cy="5943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640080" y="402336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777240" y="40690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51" name="Text 42"/>
          <p:cNvSpPr/>
          <p:nvPr/>
        </p:nvSpPr>
        <p:spPr>
          <a:xfrm>
            <a:off x="777240" y="4297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Perception layer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3337560" y="4023360"/>
            <a:ext cx="2514600" cy="5943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3337560" y="402336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3474720" y="40690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extraction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3474720" y="4297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Understanding / Processing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6035040" y="4023360"/>
            <a:ext cx="2514600" cy="5943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6035040" y="402336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6172200" y="40690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900" dirty="0"/>
          </a:p>
        </p:txBody>
      </p:sp>
      <p:sp>
        <p:nvSpPr>
          <p:cNvPr id="59" name="Text 50"/>
          <p:cNvSpPr/>
          <p:nvPr/>
        </p:nvSpPr>
        <p:spPr>
          <a:xfrm>
            <a:off x="6172200" y="4297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NEW — strategy selection</a:t>
            </a:r>
            <a:endParaRPr lang="en-US" sz="900" dirty="0"/>
          </a:p>
        </p:txBody>
      </p:sp>
      <p:sp>
        <p:nvSpPr>
          <p:cNvPr id="60" name="Text 51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 Selection: Goal-Based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4023360" cy="32461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554480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7145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AGENT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9164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Phase 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8680" y="2560320"/>
            <a:ext cx="64008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BEHAVIOUR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68680" y="292608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Pursues an explicit goal (perfect-fidelity .docx)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actions to reach that goal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Re-plans if intermediate steps fail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THE OTHERS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46320" y="1691640"/>
            <a:ext cx="3840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1691640"/>
            <a:ext cx="54864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83480" y="1783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Reflex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83480" y="20574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primitive — no concept of long-term goal.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2651760"/>
            <a:ext cx="3840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2651760"/>
            <a:ext cx="54864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27432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83480" y="3017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Helpful, but lacks explicit objective awareness.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46320" y="3611880"/>
            <a:ext cx="3840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46320" y="3611880"/>
            <a:ext cx="54864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83480" y="3703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Learning Agent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983480" y="3977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but expensive and harder to validate at FYP scale.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 MOTION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Workflow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70916" y="1463040"/>
            <a:ext cx="1508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" y="1463040"/>
            <a:ext cx="150876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" y="1463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28116" y="210312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706" y="2251710"/>
            <a:ext cx="297180" cy="2971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0916" y="2834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2356" y="32004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input image.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 rot="5400000">
            <a:off x="1997964" y="2606040"/>
            <a:ext cx="128016" cy="164592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44268" y="1463040"/>
            <a:ext cx="1508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144268" y="1463040"/>
            <a:ext cx="150876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44268" y="1463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2601468" y="210312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058" y="2251710"/>
            <a:ext cx="297180" cy="2971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144268" y="2834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235708" y="32004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layout &amp; intent.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 rot="5400000">
            <a:off x="3671316" y="2606040"/>
            <a:ext cx="128016" cy="164592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817620" y="1463040"/>
            <a:ext cx="1508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817620" y="1463040"/>
            <a:ext cx="150876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17620" y="1463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4274820" y="210312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410" y="2251710"/>
            <a:ext cx="297180" cy="2971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817620" y="2834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3909060" y="32004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formatting strategy.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 rot="5400000">
            <a:off x="5344668" y="2606040"/>
            <a:ext cx="128016" cy="164592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490972" y="1463040"/>
            <a:ext cx="1508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5490972" y="1463040"/>
            <a:ext cx="150876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490972" y="1463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Shape 30"/>
          <p:cNvSpPr/>
          <p:nvPr/>
        </p:nvSpPr>
        <p:spPr>
          <a:xfrm>
            <a:off x="5948172" y="210312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762" y="2251710"/>
            <a:ext cx="297180" cy="2971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490972" y="2834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5582412" y="32004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.docx.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 rot="5400000">
            <a:off x="7018020" y="2606040"/>
            <a:ext cx="128016" cy="164592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164324" y="1463040"/>
            <a:ext cx="1508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7164324" y="1463040"/>
            <a:ext cx="150876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164324" y="1463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3" name="Shape 37"/>
          <p:cNvSpPr/>
          <p:nvPr/>
        </p:nvSpPr>
        <p:spPr>
          <a:xfrm>
            <a:off x="7621524" y="210312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0114" y="2251710"/>
            <a:ext cx="297180" cy="29718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164324" y="2834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7255764" y="32004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corrections.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640080" y="4251960"/>
            <a:ext cx="8046720" cy="3657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4008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 →  feeds back into OBSERVE — the loop closes, the agent improves.</a:t>
            </a:r>
            <a:endParaRPr lang="en-US" sz="1050" dirty="0"/>
          </a:p>
        </p:txBody>
      </p:sp>
      <p:sp>
        <p:nvSpPr>
          <p:cNvPr id="49" name="Text 42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AGENT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Layer: Hybrid Reasoning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14630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5448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68021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Layer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1874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explainable rules — predictable on standard layouts.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97180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971800"/>
            <a:ext cx="54864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31546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3280410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6304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Augmentation (optional)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463040" y="3474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model resolves ambiguous OCR using semantic context — invoked only when confidence is low.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46320" y="1371600"/>
            <a:ext cx="3840480" cy="3291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INPUTS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02920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signals drive the agent's choices: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029200" y="224028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35458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62356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62356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 → escalate to LLM or ask user.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029200" y="320040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1470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2356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623560" y="3474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/ legal / business → different formatting templates.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REMEMBERING &amp; CONTEXTUALIZING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&amp;  Context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40233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4023360" cy="4114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240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 within this run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OCR confidence values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corrections in queue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3840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371600"/>
            <a:ext cx="3840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874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Sessions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22402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correction patterns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formatting style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Document-type templates learned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8046720" cy="9601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307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user always converts H1 → 18pt bold, the agent remembers and applies it by default — without being asked again.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IT DECIDES ALONE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Level: Semi-Autonomous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SPECTRUM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8046720" cy="3657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83080"/>
            <a:ext cx="40233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0" y="1691640"/>
            <a:ext cx="274320" cy="548640"/>
          </a:xfrm>
          <a:prstGeom prst="ellipse">
            <a:avLst/>
          </a:prstGeom>
          <a:solidFill>
            <a:srgbClr val="1E1B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94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Semi-Autonomous (we are here)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06640" y="2194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4023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697480"/>
            <a:ext cx="54864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DOES ALONE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1089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&amp; OCR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selection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the .docx output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697480"/>
            <a:ext cx="3840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697480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STAYS IN CONTROL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1089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final output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low-confidence segments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template choice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what gets remembered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DESIGN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Human Steps In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70916" y="1554480"/>
            <a:ext cx="150876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4338C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" y="1554480"/>
            <a:ext cx="1508760" cy="3657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2356" y="205740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1997964" y="2194560"/>
            <a:ext cx="118872" cy="146304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4268" y="1554480"/>
            <a:ext cx="150876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44268" y="1554480"/>
            <a:ext cx="15087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4268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35708" y="205740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3671316" y="2194560"/>
            <a:ext cx="118872" cy="146304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17620" y="1554480"/>
            <a:ext cx="150876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4338C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17620" y="1554480"/>
            <a:ext cx="1508760" cy="3657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17620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09060" y="205740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applies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5344668" y="2194560"/>
            <a:ext cx="118872" cy="146304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0972" y="1554480"/>
            <a:ext cx="150876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90972" y="1554480"/>
            <a:ext cx="15087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0972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82412" y="205740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rot="5400000">
            <a:off x="7018020" y="2194560"/>
            <a:ext cx="118872" cy="146304"/>
          </a:xfrm>
          <a:prstGeom prst="right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64324" y="1554480"/>
            <a:ext cx="150876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64324" y="1554480"/>
            <a:ext cx="15087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64324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55764" y="205740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.docx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3383280"/>
            <a:ext cx="22860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checkpoint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383280"/>
            <a:ext cx="228600" cy="2286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autonomous step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3886200"/>
            <a:ext cx="8046720" cy="7772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39502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HITL?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preserves accountability — the user remains the final authority on outputs, especially for high-stakes documents.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AGENT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AGENTS RESPONSIBLY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Agent Design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2514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77340" y="1645920"/>
            <a:ext cx="640080" cy="6400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8059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8346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shows what it did, why, and how confident it was.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1417320"/>
            <a:ext cx="2514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74820" y="164592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059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Handling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74720" y="28346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diverse fonts, scripts, and document layouts.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1417320"/>
            <a:ext cx="2514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72300" y="1645920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8059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172200" y="28346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say always rests with the human; nothing is irreversible.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4526280"/>
            <a:ext cx="8046720" cy="22860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008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design is a system requirement — not a feature added later.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8046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72768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0992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1536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OCR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818120" y="155448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15544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554480" y="18745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but wrong text — silently misleads the user.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2468880"/>
            <a:ext cx="8046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246888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267004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0720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554480" y="26334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Over-Automation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818120" y="2651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818120" y="2651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554480" y="2971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stop reviewing output; small errors compound undetected.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0080" y="3566160"/>
            <a:ext cx="8046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0080" y="356616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68680" y="37673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04488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554480" y="3730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7818120" y="374904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818120" y="3749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554480" y="4069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used to convert documents the user has no right to.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MECHANISMS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 IN PLACE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Mechanisms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68021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transcription tagged with confidence; low scores escalate.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371600"/>
            <a:ext cx="54864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37760" y="15544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680210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3212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System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53212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low confidence, agent re-runs with alternate preprocessing.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0080" y="3063240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0080" y="3063240"/>
            <a:ext cx="54864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371850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417320" y="3611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decisions and corrections logged for audit and improvement.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754880" y="3063240"/>
            <a:ext cx="3931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54880" y="3063240"/>
            <a:ext cx="54864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937760" y="32461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37185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Warnings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532120" y="3611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visible alerts when output may be unreliable.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&amp;  AFTER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vs. Agentic System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291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 •  STATIC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 •  AGENTIC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— every step requires user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Semi-autonomous with HITL checkpoints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Fixed, rule-based formatting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Hybrid: rules + LLM-augmented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 — same input, same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— learns from past corrections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sessions are isolated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+ long-term 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— needs manual code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via feedback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4338CA">
              <a:alpha val="35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Pipeline to Intelligent Agent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9144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57400"/>
            <a:ext cx="251460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3060" y="22402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23774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OCR pipeline transformed into a self-improving agent.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2057400"/>
            <a:ext cx="251460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20540" y="22402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3774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Intelligent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reasoning replaces brittle rules; confidence drives behaviour.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2057400"/>
            <a:ext cx="251460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18020" y="22402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23774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Responsible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172200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legality, and HITL are baked into the system, not bolted on.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 system that is not just smarter — but also more accountable.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2560320"/>
          </a:xfrm>
          <a:prstGeom prst="rect">
            <a:avLst/>
          </a:prstGeom>
          <a:solidFill>
            <a:srgbClr val="4338CA">
              <a:alpha val="7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PPIT  |  Image-to-Word Agentic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 &amp;  Roadmap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931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13716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68021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1536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OCR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1874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non-Latin scripts — Arabic, Urdu, Chinese — with script-aware models.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371600"/>
            <a:ext cx="54864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37760" y="15544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680210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32120" y="1536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AI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532120" y="1874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transformer-based handwriting recognition stage with style adaptation.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40080" y="2926080"/>
            <a:ext cx="3931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0080" y="2926080"/>
            <a:ext cx="54864" cy="1371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234690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3090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 (opt-in)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417320" y="3429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mode for trusted document classes — with strong guardrails.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754880" y="2926080"/>
            <a:ext cx="3931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54880" y="2926080"/>
            <a:ext cx="54864" cy="13716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937760" y="310896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23469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3090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532120" y="3429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service with role-based access and audit logging.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40080" y="4526280"/>
            <a:ext cx="8046720" cy="2743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4008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Questions?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Image-to-Word Converter — Agentic AI</dc:title>
  <dc:subject>PptxGenJS Presentation</dc:subject>
  <dc:creator>I22-0583, I22-0554</dc:creator>
  <cp:lastModifiedBy>I22-0583, I22-0554</cp:lastModifiedBy>
  <cp:revision>1</cp:revision>
  <dcterms:created xsi:type="dcterms:W3CDTF">2026-05-06T05:27:24Z</dcterms:created>
  <dcterms:modified xsi:type="dcterms:W3CDTF">2026-05-06T05:27:24Z</dcterms:modified>
</cp:coreProperties>
</file>